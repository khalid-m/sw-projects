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4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C280-FBF4-42F2-9D72-79F46CEC0FC4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3349-31CC-485B-903B-0A5BD972A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C280-FBF4-42F2-9D72-79F46CEC0FC4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3349-31CC-485B-903B-0A5BD972A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C280-FBF4-42F2-9D72-79F46CEC0FC4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3349-31CC-485B-903B-0A5BD972A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C280-FBF4-42F2-9D72-79F46CEC0FC4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3349-31CC-485B-903B-0A5BD972A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C280-FBF4-42F2-9D72-79F46CEC0FC4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3349-31CC-485B-903B-0A5BD972A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C280-FBF4-42F2-9D72-79F46CEC0FC4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3349-31CC-485B-903B-0A5BD972A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C280-FBF4-42F2-9D72-79F46CEC0FC4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3349-31CC-485B-903B-0A5BD972A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C280-FBF4-42F2-9D72-79F46CEC0FC4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3349-31CC-485B-903B-0A5BD972A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C280-FBF4-42F2-9D72-79F46CEC0FC4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3349-31CC-485B-903B-0A5BD972A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C280-FBF4-42F2-9D72-79F46CEC0FC4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3349-31CC-485B-903B-0A5BD972A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C280-FBF4-42F2-9D72-79F46CEC0FC4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3349-31CC-485B-903B-0A5BD972A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6C280-FBF4-42F2-9D72-79F46CEC0FC4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83349-31CC-485B-903B-0A5BD972A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Oval 2"/>
          <p:cNvSpPr>
            <a:spLocks noChangeArrowheads="1"/>
          </p:cNvSpPr>
          <p:nvPr/>
        </p:nvSpPr>
        <p:spPr bwMode="auto">
          <a:xfrm>
            <a:off x="1219200" y="2590800"/>
            <a:ext cx="914400" cy="91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Calibri" pitchFamily="34" charset="0"/>
                <a:cs typeface="Arial" pitchFamily="34" charset="0"/>
              </a:rPr>
              <a:t>Event Reader</a:t>
            </a:r>
          </a:p>
        </p:txBody>
      </p:sp>
      <p:sp>
        <p:nvSpPr>
          <p:cNvPr id="1027" name="Oval 3"/>
          <p:cNvSpPr>
            <a:spLocks noChangeArrowheads="1"/>
          </p:cNvSpPr>
          <p:nvPr/>
        </p:nvSpPr>
        <p:spPr bwMode="auto">
          <a:xfrm>
            <a:off x="3852866" y="4724400"/>
            <a:ext cx="947734" cy="91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700" b="1" dirty="0" smtClean="0">
              <a:latin typeface="Calibri" pitchFamily="34" charset="0"/>
              <a:cs typeface="Arial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Calibri" pitchFamily="34" charset="0"/>
                <a:cs typeface="Arial" pitchFamily="34" charset="0"/>
              </a:rPr>
              <a:t>Interrupt Reader</a:t>
            </a:r>
          </a:p>
        </p:txBody>
      </p:sp>
      <p:sp>
        <p:nvSpPr>
          <p:cNvPr id="1028" name="Oval 4"/>
          <p:cNvSpPr>
            <a:spLocks noChangeArrowheads="1"/>
          </p:cNvSpPr>
          <p:nvPr/>
        </p:nvSpPr>
        <p:spPr bwMode="auto">
          <a:xfrm>
            <a:off x="3854293" y="2596992"/>
            <a:ext cx="914400" cy="91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DEBS </a:t>
            </a:r>
            <a:endParaRPr lang="en-US" sz="1400" b="1" dirty="0" smtClean="0">
              <a:latin typeface="Calibri" pitchFamily="34" charset="0"/>
              <a:cs typeface="Arial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Splitter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29" name="AutoShape 5" descr="sdvvxcvxcv"/>
          <p:cNvCxnSpPr>
            <a:cxnSpLocks noChangeShapeType="1"/>
            <a:stCxn id="1027" idx="0"/>
            <a:endCxn id="1028" idx="4"/>
          </p:cNvCxnSpPr>
          <p:nvPr/>
        </p:nvCxnSpPr>
        <p:spPr bwMode="auto">
          <a:xfrm flipH="1" flipV="1">
            <a:off x="4311493" y="3511392"/>
            <a:ext cx="15240" cy="1213008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030" name="AutoShape 6" descr="sdvvxcvxcv"/>
          <p:cNvCxnSpPr>
            <a:cxnSpLocks noChangeShapeType="1"/>
            <a:stCxn id="1026" idx="6"/>
            <a:endCxn id="1028" idx="2"/>
          </p:cNvCxnSpPr>
          <p:nvPr/>
        </p:nvCxnSpPr>
        <p:spPr bwMode="auto">
          <a:xfrm>
            <a:off x="2133600" y="3048000"/>
            <a:ext cx="1720693" cy="6192"/>
          </a:xfrm>
          <a:prstGeom prst="straightConnector1">
            <a:avLst/>
          </a:prstGeom>
          <a:noFill/>
          <a:ln w="12700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1031" name="Oval 7"/>
          <p:cNvSpPr>
            <a:spLocks noChangeArrowheads="1"/>
          </p:cNvSpPr>
          <p:nvPr/>
        </p:nvSpPr>
        <p:spPr bwMode="auto">
          <a:xfrm>
            <a:off x="6553200" y="685800"/>
            <a:ext cx="914400" cy="9141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Calibri" pitchFamily="34" charset="0"/>
                <a:cs typeface="Arial" pitchFamily="34" charset="0"/>
              </a:rPr>
              <a:t>Q1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Calibri" pitchFamily="34" charset="0"/>
                <a:cs typeface="Arial" pitchFamily="34" charset="0"/>
              </a:rPr>
              <a:t>Front End</a:t>
            </a:r>
          </a:p>
        </p:txBody>
      </p:sp>
      <p:sp>
        <p:nvSpPr>
          <p:cNvPr id="1032" name="Oval 8"/>
          <p:cNvSpPr>
            <a:spLocks noChangeArrowheads="1"/>
          </p:cNvSpPr>
          <p:nvPr/>
        </p:nvSpPr>
        <p:spPr bwMode="auto">
          <a:xfrm>
            <a:off x="6629400" y="2590800"/>
            <a:ext cx="914400" cy="91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Calibri" pitchFamily="34" charset="0"/>
                <a:cs typeface="Arial" pitchFamily="34" charset="0"/>
              </a:rPr>
              <a:t>Q2/Q4 Ball Hitter</a:t>
            </a:r>
          </a:p>
        </p:txBody>
      </p:sp>
      <p:sp>
        <p:nvSpPr>
          <p:cNvPr id="1033" name="Oval 9"/>
          <p:cNvSpPr>
            <a:spLocks noChangeArrowheads="1"/>
          </p:cNvSpPr>
          <p:nvPr/>
        </p:nvSpPr>
        <p:spPr bwMode="auto">
          <a:xfrm>
            <a:off x="6553200" y="4572000"/>
            <a:ext cx="914400" cy="91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Calibri" pitchFamily="34" charset="0"/>
                <a:cs typeface="Arial" pitchFamily="34" charset="0"/>
              </a:rPr>
              <a:t>Q3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Calibri" pitchFamily="34" charset="0"/>
                <a:cs typeface="Arial" pitchFamily="34" charset="0"/>
              </a:rPr>
              <a:t>Front End</a:t>
            </a:r>
          </a:p>
        </p:txBody>
      </p:sp>
      <p:cxnSp>
        <p:nvCxnSpPr>
          <p:cNvPr id="1040" name="AutoShape 16"/>
          <p:cNvCxnSpPr>
            <a:cxnSpLocks noChangeShapeType="1"/>
            <a:stCxn id="1028" idx="6"/>
            <a:endCxn id="1032" idx="2"/>
          </p:cNvCxnSpPr>
          <p:nvPr/>
        </p:nvCxnSpPr>
        <p:spPr bwMode="auto">
          <a:xfrm flipV="1">
            <a:off x="4768693" y="3048000"/>
            <a:ext cx="1860707" cy="6192"/>
          </a:xfrm>
          <a:prstGeom prst="straightConnector1">
            <a:avLst/>
          </a:prstGeom>
          <a:noFill/>
          <a:ln w="127000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041" name="AutoShape 17"/>
          <p:cNvCxnSpPr>
            <a:cxnSpLocks noChangeShapeType="1"/>
            <a:stCxn id="1028" idx="5"/>
            <a:endCxn id="1033" idx="2"/>
          </p:cNvCxnSpPr>
          <p:nvPr/>
        </p:nvCxnSpPr>
        <p:spPr bwMode="auto">
          <a:xfrm>
            <a:off x="4634782" y="3377481"/>
            <a:ext cx="1918418" cy="1651719"/>
          </a:xfrm>
          <a:prstGeom prst="straightConnector1">
            <a:avLst/>
          </a:prstGeom>
          <a:noFill/>
          <a:ln w="63500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042" name="AutoShape 18"/>
          <p:cNvCxnSpPr>
            <a:cxnSpLocks noChangeShapeType="1"/>
            <a:stCxn id="1028" idx="7"/>
            <a:endCxn id="1031" idx="3"/>
          </p:cNvCxnSpPr>
          <p:nvPr/>
        </p:nvCxnSpPr>
        <p:spPr bwMode="auto">
          <a:xfrm flipV="1">
            <a:off x="4634782" y="1466069"/>
            <a:ext cx="2052329" cy="1264834"/>
          </a:xfrm>
          <a:prstGeom prst="straightConnector1">
            <a:avLst/>
          </a:prstGeom>
          <a:noFill/>
          <a:ln w="63500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sp>
        <p:nvSpPr>
          <p:cNvPr id="42" name="TextBox 41"/>
          <p:cNvSpPr txBox="1"/>
          <p:nvPr/>
        </p:nvSpPr>
        <p:spPr>
          <a:xfrm rot="19692748">
            <a:off x="4682299" y="1701583"/>
            <a:ext cx="17349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atin typeface="Calibri" pitchFamily="34" charset="0"/>
                <a:cs typeface="Arial" pitchFamily="34" charset="0"/>
              </a:rPr>
              <a:t>Q1 I</a:t>
            </a:r>
            <a:r>
              <a:rPr lang="en-US" sz="1400" b="1" dirty="0" smtClean="0">
                <a:latin typeface="Calibri" pitchFamily="34" charset="0"/>
                <a:cs typeface="Arial" pitchFamily="34" charset="0"/>
              </a:rPr>
              <a:t>nput stream</a:t>
            </a:r>
            <a:endParaRPr lang="en-US" sz="1400" b="1" dirty="0">
              <a:latin typeface="Calibri" pitchFamily="34" charset="0"/>
              <a:cs typeface="Arial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 rot="5400000">
            <a:off x="3721315" y="3769621"/>
            <a:ext cx="12675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Calibri" pitchFamily="34" charset="0"/>
                <a:cs typeface="Arial" pitchFamily="34" charset="0"/>
              </a:rPr>
              <a:t>Interrupt stream</a:t>
            </a:r>
            <a:endParaRPr lang="en-US" sz="1400" b="1" dirty="0">
              <a:latin typeface="Calibri" pitchFamily="34" charset="0"/>
              <a:cs typeface="Arial" pitchFamily="34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981200" y="2667000"/>
            <a:ext cx="1600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Calibri" pitchFamily="34" charset="0"/>
                <a:cs typeface="Arial" pitchFamily="34" charset="0"/>
              </a:rPr>
              <a:t>Game stream</a:t>
            </a:r>
            <a:endParaRPr lang="en-US" sz="1400" b="1" dirty="0">
              <a:latin typeface="Calibri" pitchFamily="34" charset="0"/>
              <a:cs typeface="Arial" pitchFamily="34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533585" y="2606544"/>
            <a:ext cx="19124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Calibri" pitchFamily="34" charset="0"/>
                <a:cs typeface="Arial" pitchFamily="34" charset="0"/>
              </a:rPr>
              <a:t>Q2/Q4 Input stream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 smtClean="0">
              <a:latin typeface="Calibri" pitchFamily="34" charset="0"/>
              <a:cs typeface="Arial" pitchFamily="34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 rot="2472203">
            <a:off x="4829586" y="3855429"/>
            <a:ext cx="17349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Calibri" pitchFamily="34" charset="0"/>
                <a:cs typeface="Arial" pitchFamily="34" charset="0"/>
              </a:rPr>
              <a:t>Q3 Input stream</a:t>
            </a:r>
            <a:endParaRPr lang="en-US" sz="1400" b="1" dirty="0">
              <a:latin typeface="Calibri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Oval 7"/>
          <p:cNvSpPr>
            <a:spLocks noChangeArrowheads="1"/>
          </p:cNvSpPr>
          <p:nvPr/>
        </p:nvSpPr>
        <p:spPr bwMode="auto">
          <a:xfrm>
            <a:off x="2438400" y="27432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b="1" dirty="0" smtClean="0">
              <a:latin typeface="+mj-lt"/>
              <a:cs typeface="Arial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+mj-lt"/>
                <a:cs typeface="Arial" pitchFamily="34" charset="0"/>
              </a:rPr>
              <a:t>Q1 Front End</a:t>
            </a:r>
          </a:p>
        </p:txBody>
      </p:sp>
      <p:sp>
        <p:nvSpPr>
          <p:cNvPr id="1056" name="Oval 32"/>
          <p:cNvSpPr>
            <a:spLocks noChangeArrowheads="1"/>
          </p:cNvSpPr>
          <p:nvPr/>
        </p:nvSpPr>
        <p:spPr bwMode="auto">
          <a:xfrm>
            <a:off x="6858000" y="8382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+mj-lt"/>
                <a:cs typeface="Arial" pitchFamily="34" charset="0"/>
              </a:rPr>
              <a:t>Q1:</a:t>
            </a:r>
          </a:p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+mj-lt"/>
                <a:cs typeface="Arial" pitchFamily="34" charset="0"/>
              </a:rPr>
              <a:t>1 Min</a:t>
            </a:r>
          </a:p>
        </p:txBody>
      </p:sp>
      <p:sp>
        <p:nvSpPr>
          <p:cNvPr id="1057" name="Oval 33"/>
          <p:cNvSpPr>
            <a:spLocks noChangeArrowheads="1"/>
          </p:cNvSpPr>
          <p:nvPr/>
        </p:nvSpPr>
        <p:spPr bwMode="auto">
          <a:xfrm>
            <a:off x="6858000" y="23622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+mj-lt"/>
                <a:cs typeface="Arial" pitchFamily="34" charset="0"/>
              </a:rPr>
              <a:t>Q1:</a:t>
            </a:r>
          </a:p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+mj-lt"/>
                <a:cs typeface="Arial" pitchFamily="34" charset="0"/>
              </a:rPr>
              <a:t>5 Min</a:t>
            </a:r>
          </a:p>
        </p:txBody>
      </p:sp>
      <p:sp>
        <p:nvSpPr>
          <p:cNvPr id="1058" name="Oval 34"/>
          <p:cNvSpPr>
            <a:spLocks noChangeArrowheads="1"/>
          </p:cNvSpPr>
          <p:nvPr/>
        </p:nvSpPr>
        <p:spPr bwMode="auto">
          <a:xfrm>
            <a:off x="6858000" y="38862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+mj-lt"/>
                <a:cs typeface="Arial" pitchFamily="34" charset="0"/>
              </a:rPr>
              <a:t>Q1:</a:t>
            </a:r>
          </a:p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+mj-lt"/>
                <a:cs typeface="Arial" pitchFamily="34" charset="0"/>
              </a:rPr>
              <a:t>20 Min</a:t>
            </a:r>
          </a:p>
        </p:txBody>
      </p:sp>
      <p:sp>
        <p:nvSpPr>
          <p:cNvPr id="1059" name="Oval 35"/>
          <p:cNvSpPr>
            <a:spLocks noChangeArrowheads="1"/>
          </p:cNvSpPr>
          <p:nvPr/>
        </p:nvSpPr>
        <p:spPr bwMode="auto">
          <a:xfrm>
            <a:off x="6858000" y="54102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+mj-lt"/>
                <a:cs typeface="Arial" pitchFamily="34" charset="0"/>
              </a:rPr>
              <a:t>Q1:</a:t>
            </a:r>
          </a:p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latin typeface="+mj-lt"/>
                <a:cs typeface="Arial" pitchFamily="34" charset="0"/>
              </a:rPr>
              <a:t>Landmark</a:t>
            </a:r>
          </a:p>
        </p:txBody>
      </p:sp>
      <p:cxnSp>
        <p:nvCxnSpPr>
          <p:cNvPr id="1060" name="AutoShape 36"/>
          <p:cNvCxnSpPr>
            <a:cxnSpLocks noChangeShapeType="1"/>
            <a:stCxn id="1031" idx="6"/>
            <a:endCxn id="1059" idx="2"/>
          </p:cNvCxnSpPr>
          <p:nvPr/>
        </p:nvCxnSpPr>
        <p:spPr bwMode="auto">
          <a:xfrm>
            <a:off x="3810000" y="3429000"/>
            <a:ext cx="3048000" cy="2667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061" name="AutoShape 37"/>
          <p:cNvCxnSpPr>
            <a:cxnSpLocks noChangeShapeType="1"/>
            <a:stCxn id="1031" idx="6"/>
            <a:endCxn id="1058" idx="2"/>
          </p:cNvCxnSpPr>
          <p:nvPr/>
        </p:nvCxnSpPr>
        <p:spPr bwMode="auto">
          <a:xfrm>
            <a:off x="3810000" y="3429000"/>
            <a:ext cx="3048000" cy="1143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062" name="AutoShape 38"/>
          <p:cNvCxnSpPr>
            <a:cxnSpLocks noChangeShapeType="1"/>
            <a:stCxn id="1031" idx="6"/>
            <a:endCxn id="1057" idx="2"/>
          </p:cNvCxnSpPr>
          <p:nvPr/>
        </p:nvCxnSpPr>
        <p:spPr bwMode="auto">
          <a:xfrm flipV="1">
            <a:off x="3810000" y="3048000"/>
            <a:ext cx="3048000" cy="381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063" name="AutoShape 39"/>
          <p:cNvCxnSpPr>
            <a:cxnSpLocks noChangeShapeType="1"/>
            <a:stCxn id="1031" idx="6"/>
            <a:endCxn id="1056" idx="2"/>
          </p:cNvCxnSpPr>
          <p:nvPr/>
        </p:nvCxnSpPr>
        <p:spPr bwMode="auto">
          <a:xfrm flipV="1">
            <a:off x="3810000" y="1524000"/>
            <a:ext cx="3048000" cy="1905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61" name="AutoShape 18"/>
          <p:cNvCxnSpPr>
            <a:cxnSpLocks noChangeShapeType="1"/>
            <a:endCxn id="1031" idx="2"/>
          </p:cNvCxnSpPr>
          <p:nvPr/>
        </p:nvCxnSpPr>
        <p:spPr bwMode="auto">
          <a:xfrm>
            <a:off x="533400" y="3429000"/>
            <a:ext cx="1905000" cy="0"/>
          </a:xfrm>
          <a:prstGeom prst="straightConnector1">
            <a:avLst/>
          </a:prstGeom>
          <a:noFill/>
          <a:ln w="127000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98871" y="2895600"/>
            <a:ext cx="182880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+mj-lt"/>
                <a:cs typeface="Arial" pitchFamily="34" charset="0"/>
              </a:rPr>
              <a:t>Q1 Input stream</a:t>
            </a:r>
          </a:p>
        </p:txBody>
      </p:sp>
      <p:sp>
        <p:nvSpPr>
          <p:cNvPr id="14" name="TextBox 13"/>
          <p:cNvSpPr txBox="1"/>
          <p:nvPr/>
        </p:nvSpPr>
        <p:spPr>
          <a:xfrm rot="19651664">
            <a:off x="4564947" y="1899154"/>
            <a:ext cx="182880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sv-SE" sz="2000" b="1" dirty="0" smtClean="0">
                <a:latin typeface="+mj-lt"/>
              </a:rPr>
              <a:t>CRS</a:t>
            </a:r>
            <a:endParaRPr lang="en-US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1000" y="5029200"/>
            <a:ext cx="3347776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sv-SE" sz="2000" b="1" dirty="0" smtClean="0">
                <a:latin typeface="+mj-lt"/>
              </a:rPr>
              <a:t>CRS: Current Running Statistics stream</a:t>
            </a:r>
            <a:endParaRPr lang="en-US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 rot="21154496">
            <a:off x="5133260" y="2739695"/>
            <a:ext cx="115789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sv-SE" sz="2000" b="1" dirty="0" smtClean="0">
                <a:latin typeface="+mj-lt"/>
              </a:rPr>
              <a:t>CRS</a:t>
            </a:r>
            <a:endParaRPr lang="en-US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rot="2343440">
            <a:off x="4983121" y="4499218"/>
            <a:ext cx="115789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sv-SE" sz="2000" b="1" dirty="0" smtClean="0">
                <a:latin typeface="+mj-lt"/>
              </a:rPr>
              <a:t>CRS</a:t>
            </a:r>
            <a:endParaRPr lang="en-US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 rot="1229646">
            <a:off x="5157386" y="3691873"/>
            <a:ext cx="115789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sv-SE" sz="2000" b="1" dirty="0" smtClean="0">
                <a:latin typeface="+mj-lt"/>
              </a:rPr>
              <a:t>CRS</a:t>
            </a:r>
            <a:endParaRPr lang="en-US" sz="2000" b="1" dirty="0" smtClean="0">
              <a:latin typeface="+mj-lt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Oval 8"/>
          <p:cNvSpPr>
            <a:spLocks noChangeArrowheads="1"/>
          </p:cNvSpPr>
          <p:nvPr/>
        </p:nvSpPr>
        <p:spPr bwMode="auto">
          <a:xfrm>
            <a:off x="1295400" y="2362200"/>
            <a:ext cx="1143000" cy="1143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Q2</a:t>
            </a:r>
            <a:r>
              <a:rPr lang="sv-SE" sz="1700" b="1" smtClean="0">
                <a:latin typeface="Calibri" pitchFamily="34" charset="0"/>
                <a:cs typeface="Arial" pitchFamily="34" charset="0"/>
              </a:rPr>
              <a:t>/Q4</a:t>
            </a:r>
            <a:r>
              <a:rPr lang="en-US" sz="1700" b="1" smtClean="0">
                <a:latin typeface="Calibri" pitchFamily="34" charset="0"/>
                <a:cs typeface="Arial" pitchFamily="34" charset="0"/>
              </a:rPr>
              <a:t> </a:t>
            </a: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Ball Hitter</a:t>
            </a:r>
          </a:p>
        </p:txBody>
      </p:sp>
      <p:sp>
        <p:nvSpPr>
          <p:cNvPr id="1034" name="Oval 10"/>
          <p:cNvSpPr>
            <a:spLocks noChangeArrowheads="1"/>
          </p:cNvSpPr>
          <p:nvPr/>
        </p:nvSpPr>
        <p:spPr bwMode="auto">
          <a:xfrm>
            <a:off x="3581400" y="28956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Player Possession</a:t>
            </a:r>
          </a:p>
        </p:txBody>
      </p:sp>
      <p:sp>
        <p:nvSpPr>
          <p:cNvPr id="1035" name="Oval 11"/>
          <p:cNvSpPr>
            <a:spLocks noChangeArrowheads="1"/>
          </p:cNvSpPr>
          <p:nvPr/>
        </p:nvSpPr>
        <p:spPr bwMode="auto">
          <a:xfrm>
            <a:off x="3810000" y="990600"/>
            <a:ext cx="914400" cy="91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Shot on Goal</a:t>
            </a:r>
          </a:p>
        </p:txBody>
      </p:sp>
      <p:sp>
        <p:nvSpPr>
          <p:cNvPr id="1036" name="Oval 12"/>
          <p:cNvSpPr>
            <a:spLocks noChangeArrowheads="1"/>
          </p:cNvSpPr>
          <p:nvPr/>
        </p:nvSpPr>
        <p:spPr bwMode="auto">
          <a:xfrm>
            <a:off x="6858000" y="6858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sv-SE" sz="1700" b="1" dirty="0" smtClean="0">
                <a:latin typeface="Calibri" pitchFamily="34" charset="0"/>
                <a:cs typeface="Arial" pitchFamily="34" charset="0"/>
              </a:rPr>
              <a:t>Team Possession 1min</a:t>
            </a:r>
            <a:endParaRPr lang="en-US" sz="1700" b="1" dirty="0" smtClean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1043" name="AutoShape 19"/>
          <p:cNvCxnSpPr>
            <a:cxnSpLocks noChangeShapeType="1"/>
            <a:stCxn id="1032" idx="6"/>
            <a:endCxn id="1035" idx="3"/>
          </p:cNvCxnSpPr>
          <p:nvPr/>
        </p:nvCxnSpPr>
        <p:spPr bwMode="auto">
          <a:xfrm flipV="1">
            <a:off x="2438400" y="1771089"/>
            <a:ext cx="1505511" cy="1162611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044" name="AutoShape 20"/>
          <p:cNvCxnSpPr>
            <a:cxnSpLocks noChangeShapeType="1"/>
            <a:stCxn id="1034" idx="6"/>
            <a:endCxn id="1036" idx="2"/>
          </p:cNvCxnSpPr>
          <p:nvPr/>
        </p:nvCxnSpPr>
        <p:spPr bwMode="auto">
          <a:xfrm flipV="1">
            <a:off x="4953000" y="1371600"/>
            <a:ext cx="1905000" cy="22098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045" name="AutoShape 21"/>
          <p:cNvCxnSpPr>
            <a:cxnSpLocks noChangeShapeType="1"/>
            <a:stCxn id="1034" idx="6"/>
            <a:endCxn id="60" idx="2"/>
          </p:cNvCxnSpPr>
          <p:nvPr/>
        </p:nvCxnSpPr>
        <p:spPr bwMode="auto">
          <a:xfrm flipV="1">
            <a:off x="4953000" y="2895600"/>
            <a:ext cx="1905000" cy="6858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046" name="AutoShape 22"/>
          <p:cNvCxnSpPr>
            <a:cxnSpLocks noChangeShapeType="1"/>
            <a:stCxn id="1034" idx="6"/>
            <a:endCxn id="62" idx="2"/>
          </p:cNvCxnSpPr>
          <p:nvPr/>
        </p:nvCxnSpPr>
        <p:spPr bwMode="auto">
          <a:xfrm>
            <a:off x="4953000" y="3581400"/>
            <a:ext cx="1905000" cy="8382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047" name="AutoShape 23"/>
          <p:cNvCxnSpPr>
            <a:cxnSpLocks noChangeShapeType="1"/>
            <a:stCxn id="1034" idx="6"/>
            <a:endCxn id="73" idx="2"/>
          </p:cNvCxnSpPr>
          <p:nvPr/>
        </p:nvCxnSpPr>
        <p:spPr bwMode="auto">
          <a:xfrm>
            <a:off x="4953000" y="3581400"/>
            <a:ext cx="1828800" cy="23622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43" name="AutoShape 19"/>
          <p:cNvCxnSpPr>
            <a:cxnSpLocks noChangeShapeType="1"/>
            <a:stCxn id="1032" idx="6"/>
            <a:endCxn id="1034" idx="2"/>
          </p:cNvCxnSpPr>
          <p:nvPr/>
        </p:nvCxnSpPr>
        <p:spPr bwMode="auto">
          <a:xfrm>
            <a:off x="2438400" y="2933700"/>
            <a:ext cx="1143000" cy="6477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33" name="AutoShape 18"/>
          <p:cNvCxnSpPr>
            <a:cxnSpLocks noChangeShapeType="1"/>
            <a:endCxn id="1032" idx="2"/>
          </p:cNvCxnSpPr>
          <p:nvPr/>
        </p:nvCxnSpPr>
        <p:spPr bwMode="auto">
          <a:xfrm>
            <a:off x="76200" y="2895600"/>
            <a:ext cx="1219200" cy="38100"/>
          </a:xfrm>
          <a:prstGeom prst="straightConnector1">
            <a:avLst/>
          </a:prstGeom>
          <a:noFill/>
          <a:ln w="127000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0" y="2438400"/>
            <a:ext cx="1173480" cy="1229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Q2/Q4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Input stream</a:t>
            </a:r>
          </a:p>
        </p:txBody>
      </p:sp>
      <p:sp>
        <p:nvSpPr>
          <p:cNvPr id="71" name="TextBox 70"/>
          <p:cNvSpPr txBox="1"/>
          <p:nvPr/>
        </p:nvSpPr>
        <p:spPr>
          <a:xfrm rot="19314606">
            <a:off x="2447296" y="2022705"/>
            <a:ext cx="1253823" cy="444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Ball stream</a:t>
            </a:r>
          </a:p>
        </p:txBody>
      </p:sp>
      <p:sp>
        <p:nvSpPr>
          <p:cNvPr id="72" name="TextBox 71"/>
          <p:cNvSpPr txBox="1"/>
          <p:nvPr/>
        </p:nvSpPr>
        <p:spPr>
          <a:xfrm rot="1836754">
            <a:off x="2263420" y="2946446"/>
            <a:ext cx="14665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Ball Hitter stream</a:t>
            </a:r>
          </a:p>
        </p:txBody>
      </p:sp>
      <p:sp>
        <p:nvSpPr>
          <p:cNvPr id="60" name="Oval 12"/>
          <p:cNvSpPr>
            <a:spLocks noChangeArrowheads="1"/>
          </p:cNvSpPr>
          <p:nvPr/>
        </p:nvSpPr>
        <p:spPr bwMode="auto">
          <a:xfrm>
            <a:off x="6858000" y="22098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sv-SE" sz="1700" b="1" dirty="0" smtClean="0">
                <a:latin typeface="Calibri" pitchFamily="34" charset="0"/>
                <a:cs typeface="Arial" pitchFamily="34" charset="0"/>
              </a:rPr>
              <a:t>Team Possession 5 min</a:t>
            </a:r>
            <a:endParaRPr lang="en-US" sz="1700" b="1" dirty="0" smtClean="0">
              <a:latin typeface="Calibri" pitchFamily="34" charset="0"/>
              <a:cs typeface="Arial" pitchFamily="34" charset="0"/>
            </a:endParaRPr>
          </a:p>
        </p:txBody>
      </p:sp>
      <p:sp>
        <p:nvSpPr>
          <p:cNvPr id="62" name="Oval 12"/>
          <p:cNvSpPr>
            <a:spLocks noChangeArrowheads="1"/>
          </p:cNvSpPr>
          <p:nvPr/>
        </p:nvSpPr>
        <p:spPr bwMode="auto">
          <a:xfrm>
            <a:off x="6858000" y="37338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sv-SE" sz="1700" b="1" dirty="0" smtClean="0">
                <a:latin typeface="Calibri" pitchFamily="34" charset="0"/>
                <a:cs typeface="Arial" pitchFamily="34" charset="0"/>
              </a:rPr>
              <a:t>Team Possession 20 min</a:t>
            </a:r>
            <a:endParaRPr lang="en-US" sz="1700" b="1" dirty="0" smtClean="0">
              <a:latin typeface="Calibri" pitchFamily="34" charset="0"/>
              <a:cs typeface="Arial" pitchFamily="34" charset="0"/>
            </a:endParaRPr>
          </a:p>
        </p:txBody>
      </p:sp>
      <p:sp>
        <p:nvSpPr>
          <p:cNvPr id="73" name="Oval 12"/>
          <p:cNvSpPr>
            <a:spLocks noChangeArrowheads="1"/>
          </p:cNvSpPr>
          <p:nvPr/>
        </p:nvSpPr>
        <p:spPr bwMode="auto">
          <a:xfrm>
            <a:off x="6781800" y="52578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sv-SE" sz="1700" b="1" dirty="0" smtClean="0">
                <a:latin typeface="Calibri" pitchFamily="34" charset="0"/>
                <a:cs typeface="Arial" pitchFamily="34" charset="0"/>
              </a:rPr>
              <a:t>Team Possession landmark</a:t>
            </a:r>
            <a:endParaRPr lang="en-US" sz="1700" b="1" dirty="0" smtClean="0">
              <a:latin typeface="Calibri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24200" y="4876800"/>
            <a:ext cx="24073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PBP: Player Ball Possession stream</a:t>
            </a:r>
          </a:p>
        </p:txBody>
      </p:sp>
      <p:sp>
        <p:nvSpPr>
          <p:cNvPr id="20" name="TextBox 19"/>
          <p:cNvSpPr txBox="1"/>
          <p:nvPr/>
        </p:nvSpPr>
        <p:spPr>
          <a:xfrm rot="18742903">
            <a:off x="5289642" y="2217012"/>
            <a:ext cx="100188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PBP</a:t>
            </a:r>
          </a:p>
        </p:txBody>
      </p:sp>
      <p:sp>
        <p:nvSpPr>
          <p:cNvPr id="21" name="TextBox 20"/>
          <p:cNvSpPr txBox="1"/>
          <p:nvPr/>
        </p:nvSpPr>
        <p:spPr>
          <a:xfrm rot="20516733">
            <a:off x="5514198" y="2882424"/>
            <a:ext cx="100188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PBP</a:t>
            </a:r>
          </a:p>
        </p:txBody>
      </p:sp>
      <p:sp>
        <p:nvSpPr>
          <p:cNvPr id="22" name="TextBox 21"/>
          <p:cNvSpPr txBox="1"/>
          <p:nvPr/>
        </p:nvSpPr>
        <p:spPr>
          <a:xfrm rot="1409122">
            <a:off x="5512363" y="3683116"/>
            <a:ext cx="100188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PBP</a:t>
            </a:r>
          </a:p>
        </p:txBody>
      </p:sp>
      <p:sp>
        <p:nvSpPr>
          <p:cNvPr id="23" name="TextBox 22"/>
          <p:cNvSpPr txBox="1"/>
          <p:nvPr/>
        </p:nvSpPr>
        <p:spPr>
          <a:xfrm rot="3123113">
            <a:off x="5350797" y="4436952"/>
            <a:ext cx="100188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700" b="1" dirty="0" smtClean="0">
                <a:latin typeface="Calibri" pitchFamily="34" charset="0"/>
                <a:cs typeface="Arial" pitchFamily="34" charset="0"/>
              </a:rPr>
              <a:t>PBP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Oval 7"/>
          <p:cNvSpPr>
            <a:spLocks noChangeArrowheads="1"/>
          </p:cNvSpPr>
          <p:nvPr/>
        </p:nvSpPr>
        <p:spPr bwMode="auto">
          <a:xfrm>
            <a:off x="2362200" y="25146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Q3 Front End</a:t>
            </a:r>
          </a:p>
        </p:txBody>
      </p:sp>
      <p:sp>
        <p:nvSpPr>
          <p:cNvPr id="1056" name="Oval 32"/>
          <p:cNvSpPr>
            <a:spLocks noChangeArrowheads="1"/>
          </p:cNvSpPr>
          <p:nvPr/>
        </p:nvSpPr>
        <p:spPr bwMode="auto">
          <a:xfrm>
            <a:off x="7086600" y="4572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Q3</a:t>
            </a:r>
          </a:p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1 Min</a:t>
            </a:r>
          </a:p>
        </p:txBody>
      </p:sp>
      <p:sp>
        <p:nvSpPr>
          <p:cNvPr id="1057" name="Oval 33"/>
          <p:cNvSpPr>
            <a:spLocks noChangeArrowheads="1"/>
          </p:cNvSpPr>
          <p:nvPr/>
        </p:nvSpPr>
        <p:spPr bwMode="auto">
          <a:xfrm>
            <a:off x="7086600" y="19812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Q3</a:t>
            </a:r>
          </a:p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5 Min</a:t>
            </a:r>
          </a:p>
        </p:txBody>
      </p:sp>
      <p:sp>
        <p:nvSpPr>
          <p:cNvPr id="1058" name="Oval 34"/>
          <p:cNvSpPr>
            <a:spLocks noChangeArrowheads="1"/>
          </p:cNvSpPr>
          <p:nvPr/>
        </p:nvSpPr>
        <p:spPr bwMode="auto">
          <a:xfrm>
            <a:off x="7086600" y="35052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Q3</a:t>
            </a:r>
          </a:p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10 Min</a:t>
            </a:r>
          </a:p>
        </p:txBody>
      </p:sp>
      <p:sp>
        <p:nvSpPr>
          <p:cNvPr id="1059" name="Oval 35"/>
          <p:cNvSpPr>
            <a:spLocks noChangeArrowheads="1"/>
          </p:cNvSpPr>
          <p:nvPr/>
        </p:nvSpPr>
        <p:spPr bwMode="auto">
          <a:xfrm>
            <a:off x="7086600" y="502920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Q3</a:t>
            </a:r>
          </a:p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40" b="1" dirty="0" smtClean="0">
                <a:latin typeface="Calibri" pitchFamily="34" charset="0"/>
                <a:cs typeface="Arial" pitchFamily="34" charset="0"/>
              </a:rPr>
              <a:t>Landmark</a:t>
            </a:r>
          </a:p>
        </p:txBody>
      </p:sp>
      <p:cxnSp>
        <p:nvCxnSpPr>
          <p:cNvPr id="1060" name="AutoShape 36"/>
          <p:cNvCxnSpPr>
            <a:cxnSpLocks noChangeShapeType="1"/>
            <a:stCxn id="1031" idx="6"/>
            <a:endCxn id="1059" idx="2"/>
          </p:cNvCxnSpPr>
          <p:nvPr/>
        </p:nvCxnSpPr>
        <p:spPr bwMode="auto">
          <a:xfrm>
            <a:off x="3733800" y="3200400"/>
            <a:ext cx="3352800" cy="25146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061" name="AutoShape 37"/>
          <p:cNvCxnSpPr>
            <a:cxnSpLocks noChangeShapeType="1"/>
            <a:stCxn id="1031" idx="6"/>
            <a:endCxn id="1058" idx="2"/>
          </p:cNvCxnSpPr>
          <p:nvPr/>
        </p:nvCxnSpPr>
        <p:spPr bwMode="auto">
          <a:xfrm>
            <a:off x="3733800" y="3200400"/>
            <a:ext cx="3352800" cy="9906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062" name="AutoShape 38"/>
          <p:cNvCxnSpPr>
            <a:cxnSpLocks noChangeShapeType="1"/>
            <a:stCxn id="1031" idx="6"/>
            <a:endCxn id="1057" idx="2"/>
          </p:cNvCxnSpPr>
          <p:nvPr/>
        </p:nvCxnSpPr>
        <p:spPr bwMode="auto">
          <a:xfrm flipV="1">
            <a:off x="3733800" y="2667000"/>
            <a:ext cx="3352800" cy="533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063" name="AutoShape 39"/>
          <p:cNvCxnSpPr>
            <a:cxnSpLocks noChangeShapeType="1"/>
            <a:stCxn id="1031" idx="6"/>
            <a:endCxn id="1056" idx="2"/>
          </p:cNvCxnSpPr>
          <p:nvPr/>
        </p:nvCxnSpPr>
        <p:spPr bwMode="auto">
          <a:xfrm flipV="1">
            <a:off x="3733800" y="1143000"/>
            <a:ext cx="3352800" cy="2057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61" name="AutoShape 18"/>
          <p:cNvCxnSpPr>
            <a:cxnSpLocks noChangeShapeType="1"/>
            <a:endCxn id="1031" idx="2"/>
          </p:cNvCxnSpPr>
          <p:nvPr/>
        </p:nvCxnSpPr>
        <p:spPr bwMode="auto">
          <a:xfrm>
            <a:off x="457200" y="3200400"/>
            <a:ext cx="1905000" cy="0"/>
          </a:xfrm>
          <a:prstGeom prst="straightConnector1">
            <a:avLst/>
          </a:prstGeom>
          <a:noFill/>
          <a:ln w="127000">
            <a:solidFill>
              <a:srgbClr val="000000"/>
            </a:solidFill>
            <a:round/>
            <a:headEnd/>
            <a:tailEnd type="triangle" w="med" len="med"/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304800" y="2667000"/>
            <a:ext cx="182880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Q3 Input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724400"/>
            <a:ext cx="3305355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OSHM: One Second </a:t>
            </a:r>
            <a:r>
              <a:rPr lang="en-US" sz="2000" b="1" dirty="0" err="1" smtClean="0">
                <a:latin typeface="Calibri" pitchFamily="34" charset="0"/>
                <a:cs typeface="Arial" pitchFamily="34" charset="0"/>
              </a:rPr>
              <a:t>HeatMap</a:t>
            </a: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 stream</a:t>
            </a:r>
          </a:p>
        </p:txBody>
      </p:sp>
      <p:sp>
        <p:nvSpPr>
          <p:cNvPr id="14" name="TextBox 13"/>
          <p:cNvSpPr txBox="1"/>
          <p:nvPr/>
        </p:nvSpPr>
        <p:spPr>
          <a:xfrm rot="1014554">
            <a:off x="5007687" y="3270923"/>
            <a:ext cx="87630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OSHM</a:t>
            </a:r>
          </a:p>
        </p:txBody>
      </p:sp>
      <p:sp>
        <p:nvSpPr>
          <p:cNvPr id="15" name="TextBox 14"/>
          <p:cNvSpPr txBox="1"/>
          <p:nvPr/>
        </p:nvSpPr>
        <p:spPr>
          <a:xfrm rot="20932108">
            <a:off x="5011158" y="2489739"/>
            <a:ext cx="87630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OSHM</a:t>
            </a:r>
          </a:p>
        </p:txBody>
      </p:sp>
      <p:sp>
        <p:nvSpPr>
          <p:cNvPr id="16" name="TextBox 15"/>
          <p:cNvSpPr txBox="1"/>
          <p:nvPr/>
        </p:nvSpPr>
        <p:spPr>
          <a:xfrm rot="2268989">
            <a:off x="4863161" y="3895750"/>
            <a:ext cx="87630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OSHM</a:t>
            </a:r>
          </a:p>
        </p:txBody>
      </p:sp>
      <p:sp>
        <p:nvSpPr>
          <p:cNvPr id="17" name="TextBox 16"/>
          <p:cNvSpPr txBox="1"/>
          <p:nvPr/>
        </p:nvSpPr>
        <p:spPr>
          <a:xfrm rot="19757385">
            <a:off x="4792235" y="1849547"/>
            <a:ext cx="87630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Calibri" pitchFamily="34" charset="0"/>
                <a:cs typeface="Arial" pitchFamily="34" charset="0"/>
              </a:rPr>
              <a:t>OSHM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127</Words>
  <Application>Microsoft Office PowerPoint</Application>
  <PresentationFormat>On-screen Show (4:3)</PresentationFormat>
  <Paragraphs>62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Microsoft</dc:creator>
  <cp:lastModifiedBy>Microsoft</cp:lastModifiedBy>
  <cp:revision>107</cp:revision>
  <dcterms:created xsi:type="dcterms:W3CDTF">2013-04-18T12:24:23Z</dcterms:created>
  <dcterms:modified xsi:type="dcterms:W3CDTF">2013-05-15T10:09:28Z</dcterms:modified>
</cp:coreProperties>
</file>